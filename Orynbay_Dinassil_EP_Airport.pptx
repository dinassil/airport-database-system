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8" r:id="rId14"/>
    <p:sldId id="266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11/21/2020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2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11/21/2020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11/21/2020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1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11/21/2020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4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11/21/2020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11/21/2020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9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11/21/2020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3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11/21/2020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5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11/21/2020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9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11/21/2020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5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11/21/2020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11/21/2020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1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13/index.html" TargetMode="External"/><Relationship Id="rId2" Type="http://schemas.openxmlformats.org/officeDocument/2006/relationships/hyperlink" Target="https://app.creately.com/diagram/nyipzjfy8f3/edi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WpojDncIWOw&amp;feature=youtu.be" TargetMode="External"/><Relationship Id="rId5" Type="http://schemas.openxmlformats.org/officeDocument/2006/relationships/hyperlink" Target="https://www.youtube.com/watch?v=lapMmGGFS7k&amp;feature=youtu.be" TargetMode="External"/><Relationship Id="rId4" Type="http://schemas.openxmlformats.org/officeDocument/2006/relationships/hyperlink" Target="https://www.youtube.com/watch?v=qw--VYLpxG4&amp;feature=youtu.b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1">
            <a:extLst>
              <a:ext uri="{FF2B5EF4-FFF2-40B4-BE49-F238E27FC236}">
                <a16:creationId xmlns:a16="http://schemas.microsoft.com/office/drawing/2014/main" id="{30103171-0BA0-4AF0-AF05-04AFA1A4A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">
            <a:extLst>
              <a:ext uri="{FF2B5EF4-FFF2-40B4-BE49-F238E27FC236}">
                <a16:creationId xmlns:a16="http://schemas.microsoft.com/office/drawing/2014/main" id="{755403BD-9359-4286-8BE6-F42CE6A81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98" r="32453"/>
          <a:stretch/>
        </p:blipFill>
        <p:spPr>
          <a:xfrm>
            <a:off x="20" y="10"/>
            <a:ext cx="4762480" cy="6857989"/>
          </a:xfrm>
          <a:prstGeom prst="rect">
            <a:avLst/>
          </a:prstGeom>
        </p:spPr>
      </p:pic>
      <p:sp>
        <p:nvSpPr>
          <p:cNvPr id="41" name="Rectangle 33">
            <a:extLst>
              <a:ext uri="{FF2B5EF4-FFF2-40B4-BE49-F238E27FC236}">
                <a16:creationId xmlns:a16="http://schemas.microsoft.com/office/drawing/2014/main" id="{E128B901-D4EA-4C4D-A150-23D2A6DEC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9459" y="1"/>
            <a:ext cx="7482541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35">
            <a:extLst>
              <a:ext uri="{FF2B5EF4-FFF2-40B4-BE49-F238E27FC236}">
                <a16:creationId xmlns:a16="http://schemas.microsoft.com/office/drawing/2014/main" id="{A760B08A-B322-4C79-AB6D-7E4246352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685800"/>
            <a:ext cx="6099101" cy="5486400"/>
          </a:xfrm>
          <a:prstGeom prst="rect">
            <a:avLst/>
          </a:prstGeom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096000" y="1371599"/>
            <a:ext cx="4762500" cy="2360429"/>
          </a:xfrm>
        </p:spPr>
        <p:txBody>
          <a:bodyPr>
            <a:normAutofit/>
          </a:bodyPr>
          <a:lstStyle/>
          <a:p>
            <a:r>
              <a:rPr lang="ru-RU" sz="3200" dirty="0">
                <a:cs typeface="Calibri Light"/>
              </a:rPr>
              <a:t>Airport database system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0" y="4114800"/>
            <a:ext cx="4762500" cy="13716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000" dirty="0"/>
              <a:t>Astana IT university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000" dirty="0"/>
              <a:t>Developer: Orynbay Dinassil SE-2016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ru-RU" sz="2000" dirty="0"/>
              <a:t>Teacher: Aidana Kalakova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BFB2D26E-FBAE-45B8-B0F6-80E4ABDEC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3442A66-721F-4552-A3AD-3A2215F0C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102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7EA5288-5BEB-4C44-949A-ED209FE21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A8BD4-C651-4001-87C3-965A69941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1223889"/>
            <a:ext cx="2705101" cy="1331718"/>
          </a:xfrm>
        </p:spPr>
        <p:txBody>
          <a:bodyPr>
            <a:normAutofit/>
          </a:bodyPr>
          <a:lstStyle/>
          <a:p>
            <a:r>
              <a:rPr lang="ru-RU" sz="2000"/>
              <a:t>Introduction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5003A9-22D7-4D03-9F38-B28CDABB2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072064"/>
            <a:ext cx="2705100" cy="241433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ru-RU" sz="1800" i="0" dirty="0">
                <a:ea typeface="+mj-lt"/>
                <a:cs typeface="+mj-lt"/>
              </a:rPr>
              <a:t>The airport is an aerodrome with advanced facilities, mainly for commercial air transport. Airports often have aircraft storage and maintenance facilities, as well as a control tower.</a:t>
            </a:r>
            <a:endParaRPr lang="ru-RU" sz="1600" i="0" dirty="0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9D3FE7C5-4642-4751-8090-34F5F48CC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3" r="20531"/>
          <a:stretch/>
        </p:blipFill>
        <p:spPr>
          <a:xfrm>
            <a:off x="5410200" y="10"/>
            <a:ext cx="67818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0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27C836CD-47B2-4287-AE51-D866B869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A50CAC8-10E2-4E31-9995-4EF170513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506" y="0"/>
            <a:ext cx="5426844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0BC39-4941-4E15-B336-DD93EFF78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442" y="1371600"/>
            <a:ext cx="3870251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Purpose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587450-DA2C-4D77-B563-3AAE67CD1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68842"/>
            <a:ext cx="5426845" cy="57734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i="0" dirty="0"/>
              <a:t>My airport database is aimed at staff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i="0" dirty="0"/>
              <a:t>The purpose of my database is to get data about staff who work at the airport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i="0" dirty="0"/>
              <a:t>Also the purpose of this database is to get what planes  are available and their models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11225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6415D-F223-4268-8E0A-475B0063F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818" y="685801"/>
            <a:ext cx="3057379" cy="304622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Create ER diagram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01CFA1-379C-49F5-ADFC-C7911591F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468" y="4114800"/>
            <a:ext cx="2991729" cy="2057400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B955C566-C315-46C7-97B8-14C6CFDF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16" y="-2941"/>
            <a:ext cx="7673473" cy="686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2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F9FA54BD-E042-4C0D-9BF6-069D35072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0D0E3178-4966-4EEF-829B-5D1BAC92B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5">
            <a:extLst>
              <a:ext uri="{FF2B5EF4-FFF2-40B4-BE49-F238E27FC236}">
                <a16:creationId xmlns:a16="http://schemas.microsoft.com/office/drawing/2014/main" id="{797DB3B5-3773-4BC5-84D0-A26AB1DBB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63" y="685800"/>
            <a:ext cx="10830681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A88E5-AE9B-477D-9A33-31DE65B9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422" y="3915508"/>
            <a:ext cx="8515643" cy="8850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cap="all" spc="300" dirty="0"/>
              <a:t>Create table in</a:t>
            </a:r>
            <a:endParaRPr lang="en-US" sz="36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3B91FA-80A4-4619-B1BA-DEFAA84298A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373922" y="5016306"/>
            <a:ext cx="7332785" cy="6271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i="1" kern="1200" cap="all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POSTGRESQL</a:t>
            </a:r>
            <a:endParaRPr lang="en-US" i="1" kern="1200" dirty="0">
              <a:solidFill>
                <a:schemeClr val="tx2"/>
              </a:solidFill>
              <a:latin typeface="+mj-lt"/>
              <a:ea typeface="+mn-ea"/>
              <a:cs typeface="+mn-cs"/>
            </a:endParaRPr>
          </a:p>
          <a:p>
            <a:pPr marL="0" indent="0" algn="ctr">
              <a:buNone/>
            </a:pPr>
            <a:endParaRPr lang="en-US" i="1" kern="1200" dirty="0"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6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2054B7E-18DD-4F56-9888-4EC13540E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" r="2500" b="1"/>
          <a:stretch/>
        </p:blipFill>
        <p:spPr>
          <a:xfrm>
            <a:off x="4981367" y="1707357"/>
            <a:ext cx="2911411" cy="1992444"/>
          </a:xfrm>
          <a:prstGeom prst="rect">
            <a:avLst/>
          </a:prstGeom>
        </p:spPr>
      </p:pic>
      <p:pic>
        <p:nvPicPr>
          <p:cNvPr id="17" name="Рисунок 1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61985F4-7B6D-4E8B-AA3C-7D99F26D03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694" b="4"/>
          <a:stretch/>
        </p:blipFill>
        <p:spPr>
          <a:xfrm>
            <a:off x="1988709" y="1804198"/>
            <a:ext cx="2911411" cy="1989652"/>
          </a:xfrm>
          <a:prstGeom prst="rect">
            <a:avLst/>
          </a:prstGeom>
        </p:spPr>
      </p:pic>
      <p:pic>
        <p:nvPicPr>
          <p:cNvPr id="8" name="Рисунок 1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03E4D7D-A9D5-4A6D-8143-1F22F197BA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7896" b="-2"/>
          <a:stretch/>
        </p:blipFill>
        <p:spPr>
          <a:xfrm>
            <a:off x="7961326" y="1707379"/>
            <a:ext cx="2911411" cy="199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5E67B1-72A0-4761-A02E-A09E8792A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95F9E2-09E7-4B3C-90CF-8A938F730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4038600" cy="4114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79892-A40D-4691-94D8-B1B6C0827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0383" y="1972344"/>
            <a:ext cx="3048000" cy="1840001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chemeClr val="bg2"/>
                </a:solidFill>
              </a:rPr>
              <a:t>Create Alter table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BB4433-13A9-419C-BAB3-4F5A767D0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1" y="4114799"/>
            <a:ext cx="2705100" cy="8510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000" dirty="0">
                <a:solidFill>
                  <a:schemeClr val="bg2"/>
                </a:solidFill>
              </a:rPr>
              <a:t>statement</a:t>
            </a:r>
            <a:endParaRPr lang="ru-RU" sz="2000" i="0" cap="all" dirty="0">
              <a:solidFill>
                <a:schemeClr val="bg1"/>
              </a:solidFill>
            </a:endParaRPr>
          </a:p>
        </p:txBody>
      </p:sp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987C992-A52F-43F8-8E04-D17991DC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58" y="2320667"/>
            <a:ext cx="6118726" cy="189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2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4">
            <a:extLst>
              <a:ext uri="{FF2B5EF4-FFF2-40B4-BE49-F238E27FC236}">
                <a16:creationId xmlns:a16="http://schemas.microsoft.com/office/drawing/2014/main" id="{F8AC37F4-463B-46BC-99B5-D1C7A6E2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CDD598B-FD22-4A82-9548-F3E60665D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625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3C1C5-8542-4D64-A9B0-904C5C332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801"/>
            <a:ext cx="3390900" cy="304622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Insert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C44F7A-2D7B-415B-B31B-DE3116D48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114800"/>
            <a:ext cx="3390900" cy="2057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statement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4438734-A2F1-4965-BC22-B2289A55F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530998"/>
            <a:ext cx="2883195" cy="1722564"/>
          </a:xfrm>
          <a:prstGeom prst="rect">
            <a:avLst/>
          </a:prstGeom>
        </p:spPr>
      </p:pic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0E35BCD-281A-442A-AAA3-5092C4863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07" y="1128393"/>
            <a:ext cx="2883194" cy="2125171"/>
          </a:xfrm>
          <a:prstGeom prst="rect">
            <a:avLst/>
          </a:prstGeom>
        </p:spPr>
      </p:pic>
      <p:pic>
        <p:nvPicPr>
          <p:cNvPr id="5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FEC9BDA-02A4-4DF3-9A31-8E265F561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604436"/>
            <a:ext cx="2883195" cy="1283021"/>
          </a:xfrm>
          <a:prstGeom prst="rect">
            <a:avLst/>
          </a:prstGeom>
        </p:spPr>
      </p:pic>
      <p:pic>
        <p:nvPicPr>
          <p:cNvPr id="6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E5A7F21-3B83-4BAE-B1AF-6DC0932F6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006" y="3604437"/>
            <a:ext cx="2883194" cy="202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D51C52-CB09-4EEB-BAC7-81E819283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3F1B7-AE30-4D54-870F-255CBBE4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7818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B76ABE-6504-47B7-A6D3-847574AE3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685800"/>
            <a:ext cx="4038600" cy="304622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Update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4726B7-042A-4E8D-AC35-D6FD278D7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4053286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statement</a:t>
            </a:r>
            <a:endParaRPr lang="ru-RU" dirty="0" err="1">
              <a:solidFill>
                <a:schemeClr val="bg1"/>
              </a:solidFill>
            </a:endParaRPr>
          </a:p>
        </p:txBody>
      </p:sp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EAC81BA-5E10-48D2-B297-C8611A9F7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353" y="685801"/>
            <a:ext cx="3331094" cy="2585068"/>
          </a:xfrm>
          <a:prstGeom prst="rect">
            <a:avLst/>
          </a:prstGeom>
        </p:spPr>
      </p:pic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94A6D75D-8D0A-495C-AE48-93ECE2CC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84" y="3587132"/>
            <a:ext cx="3946232" cy="25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7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356AA-D264-4DAA-A95A-B85783136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818" y="685801"/>
            <a:ext cx="3057379" cy="304622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2"/>
                </a:solidFill>
              </a:rPr>
              <a:t>Delete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80CFE2-225E-4063-90F1-DB993C0A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468" y="4114800"/>
            <a:ext cx="2991729" cy="2057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statement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838C9D5-C55E-4DBE-9AD1-B2781D0F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830860"/>
            <a:ext cx="6096000" cy="319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5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E9899-BE52-4DC0-AE43-027903917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3687878"/>
            <a:ext cx="8115299" cy="1265404"/>
          </a:xfrm>
        </p:spPr>
        <p:txBody>
          <a:bodyPr>
            <a:normAutofit/>
          </a:bodyPr>
          <a:lstStyle/>
          <a:p>
            <a:r>
              <a:rPr lang="ru-RU" dirty="0" err="1"/>
              <a:t>Gantt</a:t>
            </a:r>
            <a:r>
              <a:rPr lang="ru-RU" dirty="0"/>
              <a:t> </a:t>
            </a:r>
            <a:r>
              <a:rPr lang="ru-RU" dirty="0" err="1"/>
              <a:t>chart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A04DB7-7BA5-47FE-AF39-36BA2AB9C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953282"/>
            <a:ext cx="6781800" cy="76111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4" name="Рисунок 4" descr="Изображение выглядит как шкафчик&#10;&#10;Автоматически созданное описание">
            <a:extLst>
              <a:ext uri="{FF2B5EF4-FFF2-40B4-BE49-F238E27FC236}">
                <a16:creationId xmlns:a16="http://schemas.microsoft.com/office/drawing/2014/main" id="{D896F5B9-C53A-435F-9C8D-ABB10484F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65" y="1145829"/>
            <a:ext cx="10032361" cy="318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6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D3F86-291C-4285-B17B-FD2788234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1010097"/>
            <a:ext cx="9486901" cy="10100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References list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E26CCC-90D8-42B1-8541-E70765F0F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206257"/>
            <a:ext cx="9486901" cy="354064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Creately</a:t>
            </a:r>
            <a:r>
              <a:rPr lang="en-US" sz="1700" i="0" dirty="0"/>
              <a:t>. (2020, November 11). Create ERD Diagram. </a:t>
            </a:r>
            <a:r>
              <a:rPr lang="en-US" sz="1700" i="0" dirty="0">
                <a:hlinkClick r:id="rId2"/>
              </a:rPr>
              <a:t>https://app.creately.com/diagram/nyipzjfy8f3/edit</a:t>
            </a:r>
            <a:r>
              <a:rPr lang="en-US" sz="1700" i="0" dirty="0"/>
              <a:t> </a:t>
            </a:r>
            <a:endParaRPr lang="en-US" sz="1700" dirty="0"/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PostgreSQL 13.1 Documentation</a:t>
            </a:r>
            <a:r>
              <a:rPr lang="en-US" sz="1700" i="0" dirty="0"/>
              <a:t>. (2020, November 12). PostgreSQL Documentation. </a:t>
            </a:r>
            <a:r>
              <a:rPr lang="en-US" sz="1700" i="0" dirty="0">
                <a:hlinkClick r:id="rId3"/>
              </a:rPr>
              <a:t>https://www.postgresql.org/docs/13/index.html</a:t>
            </a:r>
            <a:r>
              <a:rPr lang="en-US" sz="1700" i="0" dirty="0"/>
              <a:t> </a:t>
            </a:r>
            <a:endParaRPr lang="en-US" sz="1700" dirty="0"/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YouTube</a:t>
            </a:r>
            <a:r>
              <a:rPr lang="en-US" sz="1700" i="0" dirty="0"/>
              <a:t>. (2019a, April 4). Learn PostgreSQL Tutorial - Full Course for Beginners. </a:t>
            </a:r>
            <a:r>
              <a:rPr lang="en-US" sz="1700" i="0" dirty="0">
                <a:hlinkClick r:id="rId4"/>
              </a:rPr>
              <a:t>https://www.youtube.com/watch?v=qw--VYLpxG4&amp;feature=youtu.be</a:t>
            </a:r>
            <a:r>
              <a:rPr lang="en-US" sz="1700" i="0" dirty="0"/>
              <a:t> </a:t>
            </a:r>
            <a:endParaRPr lang="en-US" sz="1700" dirty="0"/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YouTube</a:t>
            </a:r>
            <a:r>
              <a:rPr lang="en-US" sz="1700" i="0" dirty="0"/>
              <a:t>. (2019b, June 2). Уроки SQL Для Начинающих / #1 - Что Такое SQL? Установка Локального Сервера. </a:t>
            </a:r>
            <a:r>
              <a:rPr lang="en-US" sz="1700" i="0" dirty="0">
                <a:hlinkClick r:id="rId5"/>
              </a:rPr>
              <a:t>https://www.youtube.com/watch?v=lapMmGGFS7k&amp;feature=youtu.be</a:t>
            </a:r>
            <a:r>
              <a:rPr lang="en-US" sz="1700" i="0" dirty="0"/>
              <a:t> </a:t>
            </a:r>
            <a:endParaRPr lang="en-US" sz="1700" dirty="0"/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YouTube</a:t>
            </a:r>
            <a:r>
              <a:rPr lang="en-US" sz="1700" i="0" dirty="0"/>
              <a:t>. (2019c, December 15). Разбираем SQL На Примере PostgreSQL — SELECT, JOIN, GROUP, HAVING, Coalesce и Др. </a:t>
            </a:r>
            <a:r>
              <a:rPr lang="en-US" sz="1700" i="0" dirty="0">
                <a:hlinkClick r:id="rId6"/>
              </a:rPr>
              <a:t>https://www.youtube.com/watch?v=WpojDncIWOw&amp;feature=youtu.be</a:t>
            </a:r>
            <a:r>
              <a:rPr lang="en-US" sz="1700" i="0" dirty="0"/>
              <a:t> </a:t>
            </a:r>
            <a:endParaRPr lang="en-US" sz="1700" dirty="0"/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YouTube</a:t>
            </a:r>
            <a:r>
              <a:rPr lang="en-US" sz="1700" i="0" dirty="0"/>
              <a:t>. (2020, April 23). 01 - Создание, Подключение и Удаление Базы Данных - Уроки PostgreSQL. https://www.youtube.com/watch?v=-vFnDLJ1blg&amp;feature=youtu.be 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547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485AE2-6BE9-4DCA-A6C4-83F4EEFCC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4431"/>
            <a:ext cx="10820401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1424F-545B-4ECF-B106-0F76936C8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1371599"/>
            <a:ext cx="8115300" cy="2339633"/>
          </a:xfrm>
        </p:spPr>
        <p:txBody>
          <a:bodyPr anchor="b">
            <a:normAutofit/>
          </a:bodyPr>
          <a:lstStyle/>
          <a:p>
            <a:r>
              <a:rPr lang="ru-RU" sz="4000"/>
              <a:t>Conclusion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D533FA-ED3A-4D81-9E97-7BCE4218E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3896751"/>
            <a:ext cx="8115300" cy="12942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i="0">
                <a:ea typeface="+mj-lt"/>
                <a:cs typeface="+mj-lt"/>
              </a:rPr>
              <a:t>In conclusion, I can make a summary of my airport database. I encountered problems when creating queries but was able to solve them successfully. I made the relationship between my tables logical thanks to which I did not encounter problems when inserting data into the table.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235250201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6E2"/>
      </a:lt2>
      <a:accent1>
        <a:srgbClr val="94A3C5"/>
      </a:accent1>
      <a:accent2>
        <a:srgbClr val="857FBA"/>
      </a:accent2>
      <a:accent3>
        <a:srgbClr val="B096C6"/>
      </a:accent3>
      <a:accent4>
        <a:srgbClr val="B77FBA"/>
      </a:accent4>
      <a:accent5>
        <a:srgbClr val="C593B3"/>
      </a:accent5>
      <a:accent6>
        <a:srgbClr val="BA7F8C"/>
      </a:accent6>
      <a:hlink>
        <a:srgbClr val="928158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C7CAC1BB1346A4EBDBAA637EBA5F628" ma:contentTypeVersion="10" ma:contentTypeDescription="Создание документа." ma:contentTypeScope="" ma:versionID="169aa8e7cfb8a4cc97b63016573f8989">
  <xsd:schema xmlns:xsd="http://www.w3.org/2001/XMLSchema" xmlns:xs="http://www.w3.org/2001/XMLSchema" xmlns:p="http://schemas.microsoft.com/office/2006/metadata/properties" xmlns:ns3="ce094c3d-9ba8-4d5d-b54d-d86e4999895c" xmlns:ns4="46ff725b-a760-4a5c-a1b0-d7f6c0719858" targetNamespace="http://schemas.microsoft.com/office/2006/metadata/properties" ma:root="true" ma:fieldsID="dae40300fc4d3b1335517e2c3e0dc028" ns3:_="" ns4:_="">
    <xsd:import namespace="ce094c3d-9ba8-4d5d-b54d-d86e4999895c"/>
    <xsd:import namespace="46ff725b-a760-4a5c-a1b0-d7f6c071985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94c3d-9ba8-4d5d-b54d-d86e499989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Хэш подсказки о совместном доступе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f725b-a760-4a5c-a1b0-d7f6c0719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B8F8FE-CDE7-401D-8223-F88EB25909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94c3d-9ba8-4d5d-b54d-d86e4999895c"/>
    <ds:schemaRef ds:uri="46ff725b-a760-4a5c-a1b0-d7f6c0719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A78198-8AF1-47E3-B824-4146210B53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774E1D-A252-44DC-B582-9448964D987D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ce094c3d-9ba8-4d5d-b54d-d86e4999895c"/>
    <ds:schemaRef ds:uri="http://schemas.openxmlformats.org/package/2006/metadata/core-properties"/>
    <ds:schemaRef ds:uri="http://purl.org/dc/elements/1.1/"/>
    <ds:schemaRef ds:uri="46ff725b-a760-4a5c-a1b0-d7f6c0719858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373</Words>
  <Application>Microsoft Office PowerPoint</Application>
  <PresentationFormat>Широкоэкранный</PresentationFormat>
  <Paragraphs>31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Goudy Old Style</vt:lpstr>
      <vt:lpstr>Wingdings</vt:lpstr>
      <vt:lpstr>ClassicFrameVTI</vt:lpstr>
      <vt:lpstr>Airport database system</vt:lpstr>
      <vt:lpstr>Introduction</vt:lpstr>
      <vt:lpstr>Purpose </vt:lpstr>
      <vt:lpstr>Create ER diagram </vt:lpstr>
      <vt:lpstr>Create table in</vt:lpstr>
      <vt:lpstr>Create Alter table</vt:lpstr>
      <vt:lpstr>Insert </vt:lpstr>
      <vt:lpstr>Update </vt:lpstr>
      <vt:lpstr>Delete</vt:lpstr>
      <vt:lpstr>Gantt chart</vt:lpstr>
      <vt:lpstr>References list 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Dinassil Orynbay</dc:creator>
  <cp:lastModifiedBy>Orynbay Dіnasіl</cp:lastModifiedBy>
  <cp:revision>302</cp:revision>
  <dcterms:created xsi:type="dcterms:W3CDTF">2020-11-20T06:38:42Z</dcterms:created>
  <dcterms:modified xsi:type="dcterms:W3CDTF">2020-11-21T15:36:12Z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0x0101006C7CAC1BB1346A4EBDBAA637EBA5F628</vt:lpwstr>
  </property>
</Properties>
</file>